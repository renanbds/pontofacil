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EA6AC5-303C-4086-8FC6-3596DC34C494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DBA8C7-399B-4426-8F62-EB01573EC9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838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BA8C7-399B-4426-8F62-EB01573EC904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882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5" name="Imagem 4" descr="Y:\CATOLICA SC\JOBS 2019\CA 0022-19 PAPELARIA\ALTERACAO 03\AF_TEMPLATE PPT_1080x1024px_1.jpg">
            <a:extLst>
              <a:ext uri="{FF2B5EF4-FFF2-40B4-BE49-F238E27FC236}">
                <a16:creationId xmlns:a16="http://schemas.microsoft.com/office/drawing/2014/main" id="{757F1420-8772-8945-253F-27CE545E31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688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" name="TextBox 1"/>
          <p:cNvSpPr txBox="1"/>
          <p:nvPr/>
        </p:nvSpPr>
        <p:spPr>
          <a:xfrm>
            <a:off x="838200" y="365125"/>
            <a:ext cx="3822189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200" b="1"/>
            </a:pPr>
            <a:r>
              <a:rPr lang="pt-BR" sz="4000" noProof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Ponto Fácil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2434201"/>
            <a:ext cx="6132226" cy="47389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2600"/>
            </a:pPr>
            <a:r>
              <a:rPr lang="pt-BR" sz="3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 de Registro de Ponto Digital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/>
            </a:pPr>
            <a:endParaRPr lang="pt-BR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/>
            </a:pPr>
            <a:endParaRPr lang="pt-BR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DCED646-0AE5-4392-AE9E-F31ACA752BC4}"/>
              </a:ext>
            </a:extLst>
          </p:cNvPr>
          <p:cNvSpPr txBox="1"/>
          <p:nvPr/>
        </p:nvSpPr>
        <p:spPr>
          <a:xfrm>
            <a:off x="838200" y="3588271"/>
            <a:ext cx="6145966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1800"/>
            </a:pPr>
            <a:r>
              <a:rPr lang="pt-BR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Renan Batista dos Santos &amp; Ronaldo Batista da Silva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/>
            </a:pPr>
            <a:r>
              <a:rPr lang="pt-BR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Caso: Registro de Ponto Digital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Conteúdo 3">
            <a:extLst>
              <a:ext uri="{FF2B5EF4-FFF2-40B4-BE49-F238E27FC236}">
                <a16:creationId xmlns:a16="http://schemas.microsoft.com/office/drawing/2014/main" id="{F82845D2-9DE6-4EC0-714F-509C0E606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94360" y="365760"/>
            <a:ext cx="385554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Objetivo e Público-Alvo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Desenvolver um Registrador Eletrônico de Ponto Alternativo.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Facilitar o registro de entrada e saída dos colaboradores.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Oferecer praticidade, precisão e segurança.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Público-alvo: empresas pequenas e médias.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Usuários principais: colaborador e gestor/administrador.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Conteúdo 3">
            <a:extLst>
              <a:ext uri="{FF2B5EF4-FFF2-40B4-BE49-F238E27FC236}">
                <a16:creationId xmlns:a16="http://schemas.microsoft.com/office/drawing/2014/main" id="{4AB3BE16-A1D2-FC5C-C7A4-6B1E94A40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94360" y="365760"/>
            <a:ext cx="434445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Funcionalidades Principais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258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Cadastro de colaboradores.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Registro de entrada e saída.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Reconhecimento facial.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Verificação do perímetro da empresa.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Notificação de horário para batida de ponto.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Consulta das batidas e relatórios gerenciais.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Conteúdo 3">
            <a:extLst>
              <a:ext uri="{FF2B5EF4-FFF2-40B4-BE49-F238E27FC236}">
                <a16:creationId xmlns:a16="http://schemas.microsoft.com/office/drawing/2014/main" id="{2170D42D-C86C-8C7B-93E7-0F06FB790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94360" y="365760"/>
            <a:ext cx="354776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Requisitos Funcionais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1960" y="2361346"/>
            <a:ext cx="462026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RF01 — Cadastrar colaboradores.</a:t>
            </a:r>
          </a:p>
          <a:p>
            <a:pPr>
              <a:spcAft>
                <a:spcPts val="1000"/>
              </a:spcAft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RF02 — Consultar colaboradores.</a:t>
            </a:r>
          </a:p>
          <a:p>
            <a:pPr>
              <a:spcAft>
                <a:spcPts val="1000"/>
              </a:spcAft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RF03 — Realizar registro de ponto.</a:t>
            </a:r>
          </a:p>
          <a:p>
            <a:pPr>
              <a:spcAft>
                <a:spcPts val="1000"/>
              </a:spcAft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RF04 — Registrar data e horário da batida.</a:t>
            </a:r>
          </a:p>
          <a:p>
            <a:pPr>
              <a:spcAft>
                <a:spcPts val="1000"/>
              </a:spcAft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RF05 — Realizar reconhecimento facial.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3E2C042-114D-6975-BE14-6A910E5546F8}"/>
              </a:ext>
            </a:extLst>
          </p:cNvPr>
          <p:cNvSpPr txBox="1"/>
          <p:nvPr/>
        </p:nvSpPr>
        <p:spPr>
          <a:xfrm>
            <a:off x="5750560" y="2361346"/>
            <a:ext cx="644144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lang="pt-BR" sz="2000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RF06 — Verificar a localização/perímetro permitido.</a:t>
            </a:r>
          </a:p>
          <a:p>
            <a:pPr>
              <a:spcAft>
                <a:spcPts val="1000"/>
              </a:spcAft>
              <a:defRPr sz="2000"/>
            </a:pPr>
            <a:r>
              <a:rPr lang="pt-BR" sz="2000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RF07 — Consultar registros de ponto.</a:t>
            </a:r>
          </a:p>
          <a:p>
            <a:pPr>
              <a:spcAft>
                <a:spcPts val="1000"/>
              </a:spcAft>
              <a:defRPr sz="2000"/>
            </a:pPr>
            <a:r>
              <a:rPr lang="pt-BR" sz="2000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RF08 — Gerar relatórios gerenciais.</a:t>
            </a:r>
          </a:p>
          <a:p>
            <a:pPr>
              <a:spcAft>
                <a:spcPts val="1000"/>
              </a:spcAft>
              <a:defRPr sz="2000"/>
            </a:pPr>
            <a:r>
              <a:rPr lang="pt-BR" sz="2000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RF09 — Notificar o colaborador sobre o horário da batida.</a:t>
            </a:r>
          </a:p>
          <a:p>
            <a:pPr>
              <a:spcAft>
                <a:spcPts val="1000"/>
              </a:spcAft>
              <a:defRPr sz="2000"/>
            </a:pPr>
            <a:r>
              <a:rPr lang="pt-BR" sz="2000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RF10 — Permitir análise de registros alternativos pelo gestor.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9ED64338-D740-8D75-AC2B-588370E1CF3D}"/>
              </a:ext>
            </a:extLst>
          </p:cNvPr>
          <p:cNvCxnSpPr/>
          <p:nvPr/>
        </p:nvCxnSpPr>
        <p:spPr>
          <a:xfrm>
            <a:off x="5232400" y="2019300"/>
            <a:ext cx="0" cy="29083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Conteúdo 3">
            <a:extLst>
              <a:ext uri="{FF2B5EF4-FFF2-40B4-BE49-F238E27FC236}">
                <a16:creationId xmlns:a16="http://schemas.microsoft.com/office/drawing/2014/main" id="{60B46EB2-FF2A-7D5E-ABE9-CD39F97AC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94360" y="365760"/>
            <a:ext cx="425629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Requisitos Não Funcionais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RNF01 – Confiabilidade: nenhum registro de ponto deve ser perdido.</a:t>
            </a:r>
          </a:p>
          <a:p>
            <a:pPr>
              <a:spcAft>
                <a:spcPts val="1000"/>
              </a:spcAft>
              <a:defRPr sz="2000"/>
            </a:pPr>
            <a:r>
              <a:rPr lang="pt-B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RNF02 – </a:t>
            </a: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Segurança: reconhecimento facial com meta de aproximadamente 95% de compatibilidade.</a:t>
            </a:r>
          </a:p>
          <a:p>
            <a:pPr>
              <a:spcAft>
                <a:spcPts val="1000"/>
              </a:spcAft>
              <a:defRPr sz="2000"/>
            </a:pPr>
            <a:r>
              <a:rPr lang="pt-B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RNF03 – </a:t>
            </a: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Desempenho: referência de até 100 acessos simultâneos.</a:t>
            </a:r>
          </a:p>
          <a:p>
            <a:pPr>
              <a:spcAft>
                <a:spcPts val="1000"/>
              </a:spcAft>
              <a:defRPr sz="2000"/>
            </a:pPr>
            <a:r>
              <a:rPr lang="pt-B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RNF04 – </a:t>
            </a: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Relatórios: referência de até 50 relatórios simultâneos.</a:t>
            </a:r>
          </a:p>
          <a:p>
            <a:pPr>
              <a:spcAft>
                <a:spcPts val="1000"/>
              </a:spcAft>
              <a:defRPr sz="2000"/>
            </a:pPr>
            <a:r>
              <a:rPr lang="pt-B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RNF05 – </a:t>
            </a: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Trade-off: priorizar confiabilidade e desempenho pode aumentar a complexidade do armazenamento local e limitar a concorrência.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3">
            <a:extLst>
              <a:ext uri="{FF2B5EF4-FFF2-40B4-BE49-F238E27FC236}">
                <a16:creationId xmlns:a16="http://schemas.microsoft.com/office/drawing/2014/main" id="{9E94BFF2-EFF1-B862-0CAD-973765796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94360" y="365760"/>
            <a:ext cx="426975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Ferramentas e Tecnologias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3452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Vue</a:t>
            </a: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 — desenvolvimento do Front-end.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Node.js — desenvolvimento da API/Back-end.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 — persistência dos dados.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de reconhecimento facial — identificação do colaborador.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IndexedDB</a:t>
            </a: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armazenamento local em situações de indisponibilidade.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</a:t>
            </a:r>
            <a:r>
              <a:rPr lang="pt-BR" noProof="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Worker</a:t>
            </a: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suporte ao funcionamento alternativo.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— versionamento e colaboração.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Draw.io — modelagem dos diagramas.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3">
            <a:extLst>
              <a:ext uri="{FF2B5EF4-FFF2-40B4-BE49-F238E27FC236}">
                <a16:creationId xmlns:a16="http://schemas.microsoft.com/office/drawing/2014/main" id="{1F8F14B1-E15F-B240-8F5C-98FCDBE7E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94360" y="365760"/>
            <a:ext cx="411035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Arquitetura em Camadas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Camada de Apresentação — interface e interação com o usuário (</a:t>
            </a:r>
            <a:r>
              <a:rPr lang="pt-BR" noProof="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Vue</a:t>
            </a: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3).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Camada de Aplicação — </a:t>
            </a:r>
            <a:r>
              <a:rPr lang="pt-BR" noProof="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controllers</a:t>
            </a: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noProof="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</a:t>
            </a: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execução dos casos de uso.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Camada de Negócio — regras do Ponto Fácil e validações.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Camada de Dados — </a:t>
            </a:r>
            <a:r>
              <a:rPr lang="pt-BR" noProof="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repositories</a:t>
            </a: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/DAO e acesso ao MySQL.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Serviços externos, como a API facial, são consumidos pela aplicação.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Espaço Reservado para Conteúdo 3">
            <a:extLst>
              <a:ext uri="{FF2B5EF4-FFF2-40B4-BE49-F238E27FC236}">
                <a16:creationId xmlns:a16="http://schemas.microsoft.com/office/drawing/2014/main" id="{EA71EF1C-2944-C194-1827-81FF654AD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94360" y="365760"/>
            <a:ext cx="552843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Fluxo da Arquitetura em Camadas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468880" cy="731520"/>
          </a:xfrm>
          <a:prstGeom prst="roundRect">
            <a:avLst/>
          </a:prstGeom>
          <a:solidFill>
            <a:srgbClr val="C0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/>
            </a:pPr>
            <a:r>
              <a:rPr lang="pt-BR" noProof="0" dirty="0"/>
              <a:t>Apresentação</a:t>
            </a:r>
          </a:p>
          <a:p>
            <a:r>
              <a:rPr lang="pt-BR" noProof="0" dirty="0" err="1"/>
              <a:t>Vue</a:t>
            </a:r>
            <a:r>
              <a:rPr lang="pt-BR" noProof="0" dirty="0"/>
              <a:t> 3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154680" y="2011680"/>
            <a:ext cx="411480" cy="365760"/>
          </a:xfrm>
          <a:prstGeom prst="rightArrow">
            <a:avLst/>
          </a:prstGeom>
          <a:solidFill>
            <a:srgbClr val="C0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3520439" y="1828800"/>
            <a:ext cx="2468880" cy="731520"/>
          </a:xfrm>
          <a:prstGeom prst="roundRect">
            <a:avLst/>
          </a:prstGeom>
          <a:solidFill>
            <a:srgbClr val="C0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/>
            </a:pPr>
            <a:r>
              <a:rPr lang="pt-BR" noProof="0" dirty="0"/>
              <a:t>Aplicação</a:t>
            </a:r>
          </a:p>
          <a:p>
            <a:r>
              <a:rPr lang="pt-BR" noProof="0" dirty="0"/>
              <a:t>Node.js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43600" y="2011680"/>
            <a:ext cx="411480" cy="365760"/>
          </a:xfrm>
          <a:prstGeom prst="rightArrow">
            <a:avLst/>
          </a:prstGeom>
          <a:solidFill>
            <a:srgbClr val="C0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noProof="0" dirty="0"/>
          </a:p>
        </p:txBody>
      </p:sp>
      <p:sp>
        <p:nvSpPr>
          <p:cNvPr id="7" name="Rounded Rectangle 6"/>
          <p:cNvSpPr/>
          <p:nvPr/>
        </p:nvSpPr>
        <p:spPr>
          <a:xfrm>
            <a:off x="6309359" y="1828800"/>
            <a:ext cx="2468880" cy="731520"/>
          </a:xfrm>
          <a:prstGeom prst="roundRect">
            <a:avLst/>
          </a:prstGeom>
          <a:solidFill>
            <a:srgbClr val="C0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/>
            </a:pPr>
            <a:r>
              <a:rPr lang="pt-BR" noProof="0" dirty="0"/>
              <a:t>Negócio</a:t>
            </a:r>
          </a:p>
          <a:p>
            <a:r>
              <a:rPr lang="pt-BR" noProof="0" dirty="0"/>
              <a:t>Regras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732520" y="2011680"/>
            <a:ext cx="411480" cy="365760"/>
          </a:xfrm>
          <a:prstGeom prst="rightArrow">
            <a:avLst/>
          </a:prstGeom>
          <a:solidFill>
            <a:srgbClr val="C0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noProof="0" dirty="0"/>
          </a:p>
        </p:txBody>
      </p:sp>
      <p:sp>
        <p:nvSpPr>
          <p:cNvPr id="9" name="Rounded Rectangle 8"/>
          <p:cNvSpPr/>
          <p:nvPr/>
        </p:nvSpPr>
        <p:spPr>
          <a:xfrm>
            <a:off x="9098280" y="1828800"/>
            <a:ext cx="2468880" cy="731520"/>
          </a:xfrm>
          <a:prstGeom prst="roundRect">
            <a:avLst/>
          </a:prstGeom>
          <a:solidFill>
            <a:srgbClr val="C0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/>
            </a:pPr>
            <a:r>
              <a:rPr lang="pt-BR" noProof="0" dirty="0"/>
              <a:t>Dados</a:t>
            </a:r>
          </a:p>
          <a:p>
            <a:r>
              <a:rPr lang="pt-BR" noProof="0" dirty="0"/>
              <a:t>MySQL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3657600"/>
            <a:ext cx="3200400" cy="822960"/>
          </a:xfrm>
          <a:prstGeom prst="roundRect">
            <a:avLst/>
          </a:prstGeom>
          <a:solidFill>
            <a:srgbClr val="C0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/>
            </a:pPr>
            <a:r>
              <a:rPr lang="pt-BR" noProof="0" dirty="0"/>
              <a:t>API Externa de Reconhecimento Facial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8964" y="5029200"/>
            <a:ext cx="8349272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Separação de responsabilidades facilita manutenção, testes e evolução do sistema.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3">
            <a:extLst>
              <a:ext uri="{FF2B5EF4-FFF2-40B4-BE49-F238E27FC236}">
                <a16:creationId xmlns:a16="http://schemas.microsoft.com/office/drawing/2014/main" id="{4A830A7C-6A90-122D-A83E-D24FF59E5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94360" y="365760"/>
            <a:ext cx="490230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C4 Model — Nível 1: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Usuário — colaborador que realiza a batida de ponto.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Ponto Fácil — sistema responsável pelo registro e controle do ponto.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Reconhecimento Facial — API externa utilizada para identificação.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objetivo do nível de contexto é mostrar o sistema e suas principais interações externas.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3">
            <a:extLst>
              <a:ext uri="{FF2B5EF4-FFF2-40B4-BE49-F238E27FC236}">
                <a16:creationId xmlns:a16="http://schemas.microsoft.com/office/drawing/2014/main" id="{0E93BA01-FDBA-A351-C29B-D84B8E9BA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94360" y="365760"/>
            <a:ext cx="520046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C4 Model — Nível 2: Containers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Front-</a:t>
            </a:r>
            <a:r>
              <a:rPr lang="pt-BR" noProof="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pt-BR" noProof="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Vue</a:t>
            </a: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3: interface utilizada pelos usuários.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— Node.js: recebe requisições, processa operações e integra os serviços.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Banco de Dados — MySQL: armazena os dados do sistema.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de Reconhecimento Facial — serviço externo.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comunicação entre os componentes representa o fluxo principal da aplicação.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3">
            <a:extLst>
              <a:ext uri="{FF2B5EF4-FFF2-40B4-BE49-F238E27FC236}">
                <a16:creationId xmlns:a16="http://schemas.microsoft.com/office/drawing/2014/main" id="{86720A2F-88FA-E6A1-BCA1-E9CD2330F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94360" y="365760"/>
            <a:ext cx="588270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 Desenvolvido Até o Momento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3452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Definição do problema e do público-alvo.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Definição das principais funcionalidades.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Definição dos requisitos de qualidade e trade-</a:t>
            </a:r>
            <a:r>
              <a:rPr lang="pt-BR" noProof="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offs</a:t>
            </a: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Modelagem da arquitetura em camadas.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Elaboração do modelo C4.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Definição das tecnologias principais.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Estrutura do projeto e repositório GitHub.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Próximas implementações: aprofundar Front-</a:t>
            </a:r>
            <a:r>
              <a:rPr lang="pt-BR" noProof="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API, banco e integrações.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3">
            <a:extLst>
              <a:ext uri="{FF2B5EF4-FFF2-40B4-BE49-F238E27FC236}">
                <a16:creationId xmlns:a16="http://schemas.microsoft.com/office/drawing/2014/main" id="{B275F67F-6F31-016A-DEA5-163474DF1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94360" y="365760"/>
            <a:ext cx="543873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Resiliência — Falha da API Facial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258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000"/>
              </a:spcAft>
              <a:buFont typeface="+mj-lt"/>
              <a:buAutoNum type="arabicPeriod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a API facial ficar indisponível, a aplicação não deve perder a batida.</a:t>
            </a:r>
          </a:p>
          <a:p>
            <a:pPr marL="457200" indent="-457200">
              <a:spcAft>
                <a:spcPts val="1000"/>
              </a:spcAft>
              <a:buFont typeface="+mj-lt"/>
              <a:buAutoNum type="arabicPeriod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</a:t>
            </a:r>
            <a:r>
              <a:rPr lang="pt-BR" noProof="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Worker</a:t>
            </a: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cache permitem o funcionamento alternativo.</a:t>
            </a:r>
          </a:p>
          <a:p>
            <a:pPr marL="457200" indent="-457200">
              <a:spcAft>
                <a:spcPts val="1000"/>
              </a:spcAft>
              <a:buFont typeface="+mj-lt"/>
              <a:buAutoNum type="arabicPeriod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foto é mantida e o usuário pode informar o CPF.</a:t>
            </a:r>
          </a:p>
          <a:p>
            <a:pPr marL="457200" indent="-457200">
              <a:spcAft>
                <a:spcPts val="1000"/>
              </a:spcAft>
              <a:buFont typeface="+mj-lt"/>
              <a:buAutoNum type="arabicPeriod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informações são armazenadas no </a:t>
            </a:r>
            <a:r>
              <a:rPr lang="pt-BR" noProof="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IndexedDB</a:t>
            </a: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spcAft>
                <a:spcPts val="1000"/>
              </a:spcAft>
              <a:buFont typeface="+mj-lt"/>
              <a:buAutoNum type="arabicPeriod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Após a normalização do serviço, a batida alternativa é enviada ao gestor.</a:t>
            </a:r>
          </a:p>
          <a:p>
            <a:pPr marL="457200" indent="-457200">
              <a:spcAft>
                <a:spcPts val="1000"/>
              </a:spcAft>
              <a:buFont typeface="+mj-lt"/>
              <a:buAutoNum type="arabicPeriod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gestor poderá analisar e aprovar ou recusar o registro.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3">
            <a:extLst>
              <a:ext uri="{FF2B5EF4-FFF2-40B4-BE49-F238E27FC236}">
                <a16:creationId xmlns:a16="http://schemas.microsoft.com/office/drawing/2014/main" id="{AE1C1E2C-7246-9B61-3811-F858A6178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94360" y="365760"/>
            <a:ext cx="278794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Próximas Etapas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3452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Implementar e finalizar as telas do Front-end.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Desenvolver </a:t>
            </a:r>
            <a:r>
              <a:rPr lang="pt-BR" noProof="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endpoints</a:t>
            </a: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regras da API Node.js.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Concluir modelagem e persistência no MySQL.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Integrar o reconhecimento facial.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Implementar validação do perímetro da empresa.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Implementar Service </a:t>
            </a:r>
            <a:r>
              <a:rPr lang="pt-BR" noProof="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Worker</a:t>
            </a: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noProof="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IndexedDB</a:t>
            </a: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sincronização.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Desenvolver relatórios gerenciais.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Realizar testes funcionais, de integração e desempenho.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3">
            <a:extLst>
              <a:ext uri="{FF2B5EF4-FFF2-40B4-BE49-F238E27FC236}">
                <a16:creationId xmlns:a16="http://schemas.microsoft.com/office/drawing/2014/main" id="{C6D6CA3A-C9E8-D229-05CA-AE01C5856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94360" y="365760"/>
            <a:ext cx="31790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Resumo da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258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Ponto Fácil: registro de ponto digital para empresas pequenas e médias.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Reconhecimento facial para identificação do colaborador.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Validação do perímetro da empresa.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Arquitetura em camadas para separar responsabilidades.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C4 Model para representar o contexto e os componentes do sistema.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pt-BR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Mecanismo alternativo para preservar registros em caso de falha da API facial.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3">
            <a:extLst>
              <a:ext uri="{FF2B5EF4-FFF2-40B4-BE49-F238E27FC236}">
                <a16:creationId xmlns:a16="http://schemas.microsoft.com/office/drawing/2014/main" id="{0158B895-9906-EB84-1338-2B3C62327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198232" y="2112759"/>
            <a:ext cx="3603872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pt-BR" sz="6000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Obrigado!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93FDECCA-8F9F-BD97-1910-ED547F447BDA}"/>
              </a:ext>
            </a:extLst>
          </p:cNvPr>
          <p:cNvSpPr txBox="1"/>
          <p:nvPr/>
        </p:nvSpPr>
        <p:spPr>
          <a:xfrm>
            <a:off x="4546084" y="2948678"/>
            <a:ext cx="290816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pt-BR" sz="3000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Alguma dúvida?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FECC3178-2F0E-0E27-CD58-2913C41999AB}"/>
              </a:ext>
            </a:extLst>
          </p:cNvPr>
          <p:cNvSpPr txBox="1"/>
          <p:nvPr/>
        </p:nvSpPr>
        <p:spPr>
          <a:xfrm>
            <a:off x="2493439" y="4011925"/>
            <a:ext cx="701345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pt-BR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https://github.com/RenanBDS/PontoFacil</a:t>
            </a:r>
            <a:endParaRPr lang="pt-BR" sz="3000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807</Words>
  <Application>Microsoft Office PowerPoint</Application>
  <PresentationFormat>Widescreen</PresentationFormat>
  <Paragraphs>107</Paragraphs>
  <Slides>15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Times New Roman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Renan Batista Dos Santos</dc:creator>
  <cp:keywords/>
  <dc:description>generated using python-pptx</dc:description>
  <cp:lastModifiedBy>RENAN BATISTA DOS SANTOS</cp:lastModifiedBy>
  <cp:revision>8</cp:revision>
  <dcterms:created xsi:type="dcterms:W3CDTF">2013-01-27T09:14:16Z</dcterms:created>
  <dcterms:modified xsi:type="dcterms:W3CDTF">2026-09-15T22:33:21Z</dcterms:modified>
  <cp:category/>
</cp:coreProperties>
</file>