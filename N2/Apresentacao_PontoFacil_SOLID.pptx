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32520" y="914400"/>
            <a:ext cx="1920240" cy="1920240"/>
          </a:xfrm>
          <a:prstGeom prst="ellipse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38360" y="1828800"/>
            <a:ext cx="1325880" cy="1325880"/>
          </a:xfrm>
          <a:prstGeom prst="ellipse">
            <a:avLst/>
          </a:prstGeom>
          <a:solidFill>
            <a:srgbClr val="62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0" y="2834640"/>
            <a:ext cx="1005840" cy="1005840"/>
          </a:xfrm>
          <a:prstGeom prst="ellipse">
            <a:avLst/>
          </a:prstGeom>
          <a:solidFill>
            <a:srgbClr val="FFA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13232" y="822960"/>
            <a:ext cx="1874519" cy="347472"/>
          </a:xfrm>
          <a:prstGeom prst="round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859536"/>
            <a:ext cx="1783079" cy="2468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1E34"/>
                </a:solidFill>
                <a:latin typeface="Aptos"/>
              </a:rPr>
              <a:t>ANÁLISE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7223760" cy="1600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8FAFC"/>
                </a:solidFill>
                <a:latin typeface="Aptos"/>
              </a:rPr>
              <a:t>Arquitetura &amp;
Princípios SOLID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337560"/>
            <a:ext cx="67665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62D3D8"/>
                </a:solidFill>
                <a:latin typeface="Aptos"/>
              </a:rPr>
              <a:t>Ponto Fácil • diagnóstico e proposta de refatoração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096512"/>
            <a:ext cx="612648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EEF6"/>
                </a:solidFill>
                <a:latin typeface="Aptos"/>
              </a:rPr>
              <a:t>Uma visão sobre responsabilidades, acoplamento e evolução do sistema.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080760"/>
            <a:ext cx="3657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5B3C7"/>
                </a:solidFill>
                <a:latin typeface="Aptos"/>
              </a:rPr>
              <a:t>Engenharia de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144768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A5B3C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8046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B7A6"/>
                </a:solidFill>
                <a:latin typeface="Aptos"/>
              </a:rPr>
              <a:t>01 •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Aptos"/>
              </a:rPr>
              <a:t>O que é o Ponto Fácil?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658368" cy="50292"/>
          </a:xfrm>
          <a:prstGeom prst="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6510528"/>
            <a:ext cx="2148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5B3C7"/>
                </a:solidFill>
                <a:latin typeface="Aptos"/>
              </a:rPr>
              <a:t>PONTO FÁCIL  •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649224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8FAFC"/>
                </a:solidFill>
                <a:latin typeface="Aptos"/>
              </a:rPr>
              <a:t>Sistema web para apoiar o controle da jornada de trabalho por meio do registro de ponto com reconhecimento facial.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971800"/>
            <a:ext cx="3383280" cy="182880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3081528"/>
            <a:ext cx="54864" cy="1609344"/>
          </a:xfrm>
          <a:prstGeom prst="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136392"/>
            <a:ext cx="3017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Funcionário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30168"/>
            <a:ext cx="3017520" cy="10424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EEF6"/>
                </a:solidFill>
                <a:latin typeface="Aptos"/>
              </a:rPr>
              <a:t>Realiza o registro de ponto e utiliza as funcionalidades disponíveis.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971800"/>
            <a:ext cx="3383280" cy="182880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60" y="3081528"/>
            <a:ext cx="54864" cy="1609344"/>
          </a:xfrm>
          <a:prstGeom prst="rect">
            <a:avLst/>
          </a:prstGeom>
          <a:solidFill>
            <a:srgbClr val="62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53128" y="3136392"/>
            <a:ext cx="3017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RH / Administração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3630168"/>
            <a:ext cx="3017520" cy="10424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EEF6"/>
                </a:solidFill>
                <a:latin typeface="Aptos"/>
              </a:rPr>
              <a:t>Gerencia informações e acompanha os registros dos funcionários.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0688" y="2971800"/>
            <a:ext cx="3383280" cy="182880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90688" y="3081528"/>
            <a:ext cx="54864" cy="1609344"/>
          </a:xfrm>
          <a:prstGeom prst="rect">
            <a:avLst/>
          </a:prstGeom>
          <a:solidFill>
            <a:srgbClr val="FFA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91856" y="3136392"/>
            <a:ext cx="3017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Serviço externo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856" y="3630168"/>
            <a:ext cx="3017520" cy="10424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EEF6"/>
                </a:solidFill>
                <a:latin typeface="Aptos"/>
              </a:rPr>
              <a:t>API de reconhecimento facial integrada ao fluxo do sistema.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349240"/>
            <a:ext cx="104241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62D3D8"/>
                </a:solidFill>
                <a:latin typeface="Aptos"/>
              </a:rPr>
              <a:t>Foco da análise: organização interna, dependências e facilidade de manutenção.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8046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B7A6"/>
                </a:solidFill>
                <a:latin typeface="Aptos"/>
              </a:rPr>
              <a:t>02 •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Aptos"/>
              </a:rPr>
              <a:t>Mapeamento com o modelo C4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658368" cy="50292"/>
          </a:xfrm>
          <a:prstGeom prst="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6510528"/>
            <a:ext cx="2148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5B3C7"/>
                </a:solidFill>
                <a:latin typeface="Aptos"/>
              </a:rPr>
              <a:t>PONTO FÁCIL  •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429000" cy="347472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47088"/>
            <a:ext cx="54864" cy="3255263"/>
          </a:xfrm>
          <a:prstGeom prst="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3063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Nível 1 • 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95728"/>
            <a:ext cx="3063240" cy="2688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EEF6"/>
                </a:solidFill>
                <a:latin typeface="Aptos"/>
              </a:rPr>
              <a:t>• Funcionário
• RH
• Ponto Fácil
• API externa de reconhecimento facial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347472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47088"/>
            <a:ext cx="54864" cy="3255263"/>
          </a:xfrm>
          <a:prstGeom prst="rect">
            <a:avLst/>
          </a:prstGeom>
          <a:solidFill>
            <a:srgbClr val="62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901952"/>
            <a:ext cx="3063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Nível 2 • Contêineres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95728"/>
            <a:ext cx="3063240" cy="2688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EEF6"/>
                </a:solidFill>
                <a:latin typeface="Aptos"/>
              </a:rPr>
              <a:t>• Frontend: Vue 3
• Backend: Node.js + Express
• Banco de dados: MySQL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429000" cy="347472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847088"/>
            <a:ext cx="54864" cy="3255263"/>
          </a:xfrm>
          <a:prstGeom prst="rect">
            <a:avLst/>
          </a:prstGeom>
          <a:solidFill>
            <a:srgbClr val="FFA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901952"/>
            <a:ext cx="3063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Nível 3 • Componentes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95728"/>
            <a:ext cx="3063240" cy="2688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7EEF6"/>
                </a:solidFill>
                <a:latin typeface="Aptos"/>
              </a:rPr>
              <a:t>• Routes
• Controllers
• Services
• Models
• Módulos planejados: Time Record, Validation e Facial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623560"/>
            <a:ext cx="10698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5B3C7"/>
                </a:solidFill>
                <a:latin typeface="Aptos"/>
              </a:rPr>
              <a:t>Atenção: componentes planejados não devem ser confundidos com funcionalidades já implementadas.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8046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B7A6"/>
                </a:solidFill>
                <a:latin typeface="Aptos"/>
              </a:rPr>
              <a:t>03 • 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Aptos"/>
              </a:rPr>
              <a:t>O que a análise SOLID revelou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658368" cy="50292"/>
          </a:xfrm>
          <a:prstGeom prst="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6510528"/>
            <a:ext cx="2148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5B3C7"/>
                </a:solidFill>
                <a:latin typeface="Aptos"/>
              </a:rPr>
              <a:t>PONTO FÁCIL  •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37360"/>
            <a:ext cx="3429000" cy="182880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" y="1847088"/>
            <a:ext cx="54864" cy="1609344"/>
          </a:xfrm>
          <a:prstGeom prst="rect">
            <a:avLst/>
          </a:prstGeom>
          <a:solidFill>
            <a:srgbClr val="E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3063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SRP • Principal alerta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3063240" cy="10424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EEF6"/>
                </a:solidFill>
                <a:latin typeface="Aptos"/>
              </a:rPr>
              <a:t>Serviços acumulam responsabilidades diferentes.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737360"/>
            <a:ext cx="3429000" cy="182880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847088"/>
            <a:ext cx="54864" cy="1609344"/>
          </a:xfrm>
          <a:prstGeom prst="rect">
            <a:avLst/>
          </a:prstGeom>
          <a:solidFill>
            <a:srgbClr val="FFA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01952"/>
            <a:ext cx="3063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OCP • Extensibilidade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95728"/>
            <a:ext cx="3063240" cy="10424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EEF6"/>
                </a:solidFill>
                <a:latin typeface="Aptos"/>
              </a:rPr>
              <a:t>Mudanças na infraestrutura podem exigir alterações no serviço.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37360"/>
            <a:ext cx="3429000" cy="182880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28431" y="1847088"/>
            <a:ext cx="54864" cy="1609344"/>
          </a:xfrm>
          <a:prstGeom prst="rect">
            <a:avLst/>
          </a:prstGeom>
          <a:solidFill>
            <a:srgbClr val="62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901952"/>
            <a:ext cx="3063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DIP • Dependências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95728"/>
            <a:ext cx="3063240" cy="10424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EEF6"/>
                </a:solidFill>
                <a:latin typeface="Aptos"/>
              </a:rPr>
              <a:t>Serviços dependem diretamente de tecnologias concretas.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3977639"/>
            <a:ext cx="3429000" cy="141732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560320" y="4087368"/>
            <a:ext cx="54864" cy="1197864"/>
          </a:xfrm>
          <a:prstGeom prst="rect">
            <a:avLst/>
          </a:prstGeom>
          <a:solidFill>
            <a:srgbClr val="64C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61488" y="4142231"/>
            <a:ext cx="3063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LSP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4636007"/>
            <a:ext cx="3063240" cy="6309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7EEF6"/>
                </a:solidFill>
                <a:latin typeface="Aptos"/>
              </a:rPr>
              <a:t>Sem violação ativa identificada na análise.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77639"/>
            <a:ext cx="3429000" cy="141732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4087368"/>
            <a:ext cx="54864" cy="1197864"/>
          </a:xfrm>
          <a:prstGeom prst="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4142231"/>
            <a:ext cx="3063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ISP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636007"/>
            <a:ext cx="3063240" cy="6309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7EEF6"/>
                </a:solidFill>
                <a:latin typeface="Aptos"/>
              </a:rPr>
              <a:t>Oportunidade para definir abstrações menores e específicas.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806440"/>
            <a:ext cx="10515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Objetivo: melhorar a arquitetura existente — não reconstruir o sistema do zero.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8046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B7A6"/>
                </a:solidFill>
                <a:latin typeface="Aptos"/>
              </a:rPr>
              <a:t>04 • PROBLEMA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Aptos"/>
              </a:rPr>
              <a:t>SRP: responsabilidades concentradas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658368" cy="50292"/>
          </a:xfrm>
          <a:prstGeom prst="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6510528"/>
            <a:ext cx="2148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5B3C7"/>
                </a:solidFill>
                <a:latin typeface="Aptos"/>
              </a:rPr>
              <a:t>PONTO FÁCIL  •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Aptos"/>
              </a:rPr>
              <a:t>Um serviço pode ter mais de um motivo para mudar quando mistura regras de negócio e infraestrutura.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51760"/>
            <a:ext cx="4800600" cy="228600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761488"/>
            <a:ext cx="54864" cy="2066543"/>
          </a:xfrm>
          <a:prstGeom prst="rect">
            <a:avLst/>
          </a:prstGeom>
          <a:solidFill>
            <a:srgbClr val="E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816352"/>
            <a:ext cx="4434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Employee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310128"/>
            <a:ext cx="4434840" cy="1499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EEF6"/>
                </a:solidFill>
                <a:latin typeface="Aptos"/>
              </a:rPr>
              <a:t>• Regras de negócio do funcionário
• Persistência de dados
• Manipulação / armazenamento de arquivos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3429000"/>
            <a:ext cx="594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19B7A6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423160"/>
            <a:ext cx="4800600" cy="109728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2532888"/>
            <a:ext cx="54864" cy="877824"/>
          </a:xfrm>
          <a:prstGeom prst="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01968" y="2587752"/>
            <a:ext cx="4434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Employee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081528"/>
            <a:ext cx="44348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EEF6"/>
                </a:solidFill>
                <a:latin typeface="Aptos"/>
              </a:rPr>
              <a:t>Regras de negócio do funcionário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657600"/>
            <a:ext cx="2286000" cy="123444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3767328"/>
            <a:ext cx="54864" cy="1014984"/>
          </a:xfrm>
          <a:prstGeom prst="rect">
            <a:avLst/>
          </a:prstGeom>
          <a:solidFill>
            <a:srgbClr val="62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3822191"/>
            <a:ext cx="1920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4315968"/>
            <a:ext cx="1920240" cy="4480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7EEF6"/>
                </a:solidFill>
                <a:latin typeface="Aptos"/>
              </a:rPr>
              <a:t>Acesso ao banco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3657600"/>
            <a:ext cx="2286000" cy="123444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15400" y="3767328"/>
            <a:ext cx="54864" cy="1014984"/>
          </a:xfrm>
          <a:prstGeom prst="rect">
            <a:avLst/>
          </a:prstGeom>
          <a:solidFill>
            <a:srgbClr val="FFA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16568" y="3822191"/>
            <a:ext cx="1920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File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4315968"/>
            <a:ext cx="1920240" cy="4480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7EEF6"/>
                </a:solidFill>
                <a:latin typeface="Aptos"/>
              </a:rPr>
              <a:t>Operações com arquivos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2356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E7EEF6"/>
                </a:solidFill>
                <a:latin typeface="Aptos"/>
              </a:rPr>
              <a:t>Exemplo: trocar o local de armazenamento das fotos não deveria exigir mudanças nas regras de negócio.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8046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B7A6"/>
                </a:solidFill>
                <a:latin typeface="Aptos"/>
              </a:rPr>
              <a:t>05 • ACOPLAMENTO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Aptos"/>
              </a:rPr>
              <a:t>OCP e DIP: por que importam?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658368" cy="50292"/>
          </a:xfrm>
          <a:prstGeom prst="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6510528"/>
            <a:ext cx="2148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5B3C7"/>
                </a:solidFill>
                <a:latin typeface="Aptos"/>
              </a:rPr>
              <a:t>PONTO FÁCIL  •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074920" cy="182880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938528"/>
            <a:ext cx="54864" cy="1609344"/>
          </a:xfrm>
          <a:prstGeom prst="rect">
            <a:avLst/>
          </a:prstGeom>
          <a:solidFill>
            <a:srgbClr val="FFA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993392"/>
            <a:ext cx="470915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OCP • Aberto para extensão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87168"/>
            <a:ext cx="4709159" cy="10424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EEF6"/>
                </a:solidFill>
                <a:latin typeface="Aptos"/>
              </a:rPr>
              <a:t>Uma nova forma de armazenar arquivos pode exigir modificações no serviço atual.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074920" cy="182880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938528"/>
            <a:ext cx="54864" cy="1609344"/>
          </a:xfrm>
          <a:prstGeom prst="rect">
            <a:avLst/>
          </a:prstGeom>
          <a:solidFill>
            <a:srgbClr val="E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993392"/>
            <a:ext cx="470915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DIP • Inversão de dependência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87168"/>
            <a:ext cx="4709159" cy="10424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EEF6"/>
                </a:solidFill>
                <a:latin typeface="Aptos"/>
              </a:rPr>
              <a:t>Regras de negócio importam diretamente recursos como Sequelize, fs e bcrypt.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160520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B7A6"/>
                </a:solidFill>
                <a:latin typeface="Aptos"/>
              </a:rPr>
              <a:t>Proposta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617720"/>
            <a:ext cx="105156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8FAFC"/>
                </a:solidFill>
                <a:latin typeface="Aptos"/>
              </a:rPr>
              <a:t>Introduzir abstrações e injeção de dependências para reduzir o impacto das trocas tecnológicas.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623560"/>
            <a:ext cx="10515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EEF6"/>
                </a:solidFill>
                <a:latin typeface="Aptos"/>
              </a:rPr>
              <a:t>Exemplo: substituir o armazenamento local por nuvem sem reescrever as regras de negócio.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8046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B7A6"/>
                </a:solidFill>
                <a:latin typeface="Aptos"/>
              </a:rPr>
              <a:t>06 • SOLUÇÃO PROPOSTA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Aptos"/>
              </a:rPr>
              <a:t>Arquitetura-alvo da refatoração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658368" cy="50292"/>
          </a:xfrm>
          <a:prstGeom prst="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6510528"/>
            <a:ext cx="2148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5B3C7"/>
                </a:solidFill>
                <a:latin typeface="Aptos"/>
              </a:rPr>
              <a:t>PONTO FÁCIL  •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2240280" cy="1051560"/>
          </a:xfrm>
          <a:prstGeom prst="roundRect">
            <a:avLst/>
          </a:prstGeom>
          <a:solidFill>
            <a:srgbClr val="1D2B46"/>
          </a:solidFill>
          <a:ln w="19050">
            <a:solidFill>
              <a:srgbClr val="19B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203704"/>
            <a:ext cx="2093976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587752"/>
            <a:ext cx="209397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EEF6"/>
                </a:solidFill>
                <a:latin typeface="Aptos"/>
              </a:rPr>
              <a:t>Entrada HTTP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057400"/>
            <a:ext cx="2240280" cy="1051560"/>
          </a:xfrm>
          <a:prstGeom prst="roundRect">
            <a:avLst/>
          </a:prstGeom>
          <a:solidFill>
            <a:srgbClr val="1D2B46"/>
          </a:solidFill>
          <a:ln w="19050">
            <a:solidFill>
              <a:srgbClr val="62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56432" y="2203704"/>
            <a:ext cx="2093976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587752"/>
            <a:ext cx="209397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EEF6"/>
                </a:solidFill>
                <a:latin typeface="Aptos"/>
              </a:rPr>
              <a:t>Regras de negócio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508760"/>
            <a:ext cx="2240280" cy="1051560"/>
          </a:xfrm>
          <a:prstGeom prst="roundRect">
            <a:avLst/>
          </a:prstGeom>
          <a:solidFill>
            <a:srgbClr val="1D2B46"/>
          </a:solidFill>
          <a:ln w="19050">
            <a:solidFill>
              <a:srgbClr val="FFA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08192" y="1655063"/>
            <a:ext cx="2093976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2039112"/>
            <a:ext cx="209397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EEF6"/>
                </a:solidFill>
                <a:latin typeface="Aptos"/>
              </a:rPr>
              <a:t>Persistência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788920"/>
            <a:ext cx="2240280" cy="1051560"/>
          </a:xfrm>
          <a:prstGeom prst="roundRect">
            <a:avLst/>
          </a:prstGeom>
          <a:solidFill>
            <a:srgbClr val="1D2B46"/>
          </a:solidFill>
          <a:ln w="19050">
            <a:solidFill>
              <a:srgbClr val="64C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08192" y="2935224"/>
            <a:ext cx="2093976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File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3319272"/>
            <a:ext cx="209397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EEF6"/>
                </a:solidFill>
                <a:latin typeface="Aptos"/>
              </a:rPr>
              <a:t>Arquivos / uploads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2057400"/>
            <a:ext cx="2423160" cy="1051560"/>
          </a:xfrm>
          <a:prstGeom prst="roundRect">
            <a:avLst/>
          </a:prstGeom>
          <a:solidFill>
            <a:srgbClr val="1D2B46"/>
          </a:solidFill>
          <a:ln w="19050">
            <a:solidFill>
              <a:srgbClr val="19B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97112" y="2203704"/>
            <a:ext cx="2276856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Implementações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2587752"/>
            <a:ext cx="227685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EEF6"/>
                </a:solidFill>
                <a:latin typeface="Aptos"/>
              </a:rPr>
              <a:t>Banco / disco / nuvem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71800" y="2578608"/>
            <a:ext cx="411480" cy="0"/>
          </a:xfrm>
          <a:prstGeom prst="line">
            <a:avLst/>
          </a:prstGeom>
          <a:ln w="25400">
            <a:solidFill>
              <a:srgbClr val="19B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623560" y="2029968"/>
            <a:ext cx="411480" cy="548640"/>
          </a:xfrm>
          <a:prstGeom prst="line">
            <a:avLst/>
          </a:prstGeom>
          <a:ln w="25400">
            <a:solidFill>
              <a:srgbClr val="62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623560" y="2578608"/>
            <a:ext cx="411480" cy="731520"/>
          </a:xfrm>
          <a:prstGeom prst="line">
            <a:avLst/>
          </a:prstGeom>
          <a:ln w="25400">
            <a:solidFill>
              <a:srgbClr val="62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75320" y="2029968"/>
            <a:ext cx="548640" cy="393192"/>
          </a:xfrm>
          <a:prstGeom prst="line">
            <a:avLst/>
          </a:prstGeom>
          <a:ln w="25400">
            <a:solidFill>
              <a:srgbClr val="FFAE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75320" y="2697480"/>
            <a:ext cx="548640" cy="612648"/>
          </a:xfrm>
          <a:prstGeom prst="line">
            <a:avLst/>
          </a:prstGeom>
          <a:ln w="25400">
            <a:solidFill>
              <a:srgbClr val="64C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" y="4343400"/>
            <a:ext cx="3108960" cy="114300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4453128"/>
            <a:ext cx="54864" cy="923544"/>
          </a:xfrm>
          <a:prstGeom prst="rect">
            <a:avLst/>
          </a:prstGeom>
          <a:solidFill>
            <a:srgbClr val="FFA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5568" y="4507992"/>
            <a:ext cx="2743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1. Repository Pattern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001768"/>
            <a:ext cx="2743200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EEF6"/>
                </a:solidFill>
                <a:latin typeface="Aptos"/>
              </a:rPr>
              <a:t>Isola consultas ao banco.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4343400"/>
            <a:ext cx="3108960" cy="114300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26280" y="4453128"/>
            <a:ext cx="54864" cy="923544"/>
          </a:xfrm>
          <a:prstGeom prst="rect">
            <a:avLst/>
          </a:prstGeom>
          <a:solidFill>
            <a:srgbClr val="64C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27448" y="4507992"/>
            <a:ext cx="2743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2. FileStorage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27448" y="5001768"/>
            <a:ext cx="2743200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EEF6"/>
                </a:solidFill>
                <a:latin typeface="Aptos"/>
              </a:rPr>
              <a:t>Centraliza operações com arquivos.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4343400"/>
            <a:ext cx="3108960" cy="114300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38160" y="4453128"/>
            <a:ext cx="54864" cy="923544"/>
          </a:xfrm>
          <a:prstGeom prst="rect">
            <a:avLst/>
          </a:prstGeom>
          <a:solidFill>
            <a:srgbClr val="62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39328" y="4507992"/>
            <a:ext cx="2743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3. Injeção de dependências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8" y="5001768"/>
            <a:ext cx="2743200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EEF6"/>
                </a:solidFill>
                <a:latin typeface="Aptos"/>
              </a:rPr>
              <a:t>Facilita trocar implementações.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8046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B7A6"/>
                </a:solidFill>
                <a:latin typeface="Aptos"/>
              </a:rPr>
              <a:t>07 • PONTOS POSITIVOS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Aptos"/>
              </a:rPr>
              <a:t>O que já está bem encaminhado?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658368" cy="50292"/>
          </a:xfrm>
          <a:prstGeom prst="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6510528"/>
            <a:ext cx="2148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5B3C7"/>
                </a:solidFill>
                <a:latin typeface="Aptos"/>
              </a:rPr>
              <a:t>PONTO FÁCIL  •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383280" cy="237744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938528"/>
            <a:ext cx="54864" cy="2157984"/>
          </a:xfrm>
          <a:prstGeom prst="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993392"/>
            <a:ext cx="3017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Separação em camadas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87168"/>
            <a:ext cx="3017520" cy="15910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EEF6"/>
                </a:solidFill>
                <a:latin typeface="Aptos"/>
              </a:rPr>
              <a:t>Controllers recebem requisições e delegam o processamento aos services.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237744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938528"/>
            <a:ext cx="54864" cy="2157984"/>
          </a:xfrm>
          <a:prstGeom prst="rect">
            <a:avLst/>
          </a:prstGeom>
          <a:solidFill>
            <a:srgbClr val="62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993392"/>
            <a:ext cx="3017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Validação e uploads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87168"/>
            <a:ext cx="3017520" cy="15910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EEF6"/>
                </a:solidFill>
                <a:latin typeface="Aptos"/>
              </a:rPr>
              <a:t>Validadores e Multer ajudam a organizar entradas e arquivos.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383280" cy="237744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938528"/>
            <a:ext cx="54864" cy="2157984"/>
          </a:xfrm>
          <a:prstGeom prst="rect">
            <a:avLst/>
          </a:prstGeom>
          <a:solidFill>
            <a:srgbClr val="64C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993392"/>
            <a:ext cx="3017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Estrutura modular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487168"/>
            <a:ext cx="3017520" cy="15910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EEF6"/>
                </a:solidFill>
                <a:latin typeface="Aptos"/>
              </a:rPr>
              <a:t>Rotas e módulos separados evitam concentrar tudo em um único componente.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105156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8FAFC"/>
                </a:solidFill>
                <a:latin typeface="Aptos"/>
              </a:rPr>
              <a:t>A estratégia é evoluir a base existente e preservar as boas decisões arquiteturais.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8046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B7A6"/>
                </a:solidFill>
                <a:latin typeface="Aptos"/>
              </a:rPr>
              <a:t>08 • DÉBITO TÉCNICO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Aptos"/>
              </a:rPr>
              <a:t>Remover vestígios do CivicWatch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658368" cy="50292"/>
          </a:xfrm>
          <a:prstGeom prst="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6510528"/>
            <a:ext cx="2148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5B3C7"/>
                </a:solidFill>
                <a:latin typeface="Aptos"/>
              </a:rPr>
              <a:t>PONTO FÁCIL  • 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Aptos"/>
              </a:rPr>
              <a:t>O Ponto Fácil utiliza uma aplicação anterior como base. Parte do código herdado pode não representar mais o domínio atual.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4572000" cy="164592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944368"/>
            <a:ext cx="54864" cy="1426464"/>
          </a:xfrm>
          <a:prstGeom prst="rect">
            <a:avLst/>
          </a:prstGeom>
          <a:solidFill>
            <a:srgbClr val="E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999232"/>
            <a:ext cx="4206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Exemplo identificado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493008"/>
            <a:ext cx="4206240" cy="8595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EEF6"/>
                </a:solidFill>
                <a:latin typeface="Aptos"/>
              </a:rPr>
              <a:t>A função globalSearch ainda retorna entidades que não pertencem ao domínio do Ponto Fácil.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2834640"/>
            <a:ext cx="4572000" cy="164592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06440" y="2944368"/>
            <a:ext cx="54864" cy="1426464"/>
          </a:xfrm>
          <a:prstGeom prst="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07607" y="2999232"/>
            <a:ext cx="4206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Ação recomendada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7607" y="3493008"/>
            <a:ext cx="4206240" cy="8595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EEF6"/>
                </a:solidFill>
                <a:latin typeface="Aptos"/>
              </a:rPr>
              <a:t>Remover referências obsoletas e alinhar o código às necessidades do controle de ponto.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62D3D8"/>
                </a:solidFill>
                <a:latin typeface="Aptos"/>
              </a:rPr>
              <a:t>Menos código irrelevante = menor complexidade e mais clareza para futuras manutenções.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8046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B7A6"/>
                </a:solidFill>
                <a:latin typeface="Aptos"/>
              </a:rPr>
              <a:t>09 • EXECUÇÃO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Aptos"/>
              </a:rPr>
              <a:t>Plano de ação em quatro etapas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658368" cy="50292"/>
          </a:xfrm>
          <a:prstGeom prst="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6510528"/>
            <a:ext cx="2148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5B3C7"/>
                </a:solidFill>
                <a:latin typeface="Aptos"/>
              </a:rPr>
              <a:t>PONTO FÁCIL  •  10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737360"/>
            <a:ext cx="530352" cy="530352"/>
          </a:xfrm>
          <a:prstGeom prst="ellipse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47548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1E3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55648"/>
            <a:ext cx="4114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8FAFC"/>
                </a:solidFill>
                <a:latin typeface="Aptos"/>
              </a:rPr>
              <a:t>Criar EmployeeRepository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773936"/>
            <a:ext cx="5029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EEF6"/>
                </a:solidFill>
                <a:latin typeface="Aptos"/>
              </a:rPr>
              <a:t>Isolar consultas e persistência.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33856" y="2286000"/>
            <a:ext cx="0" cy="475488"/>
          </a:xfrm>
          <a:prstGeom prst="line">
            <a:avLst/>
          </a:prstGeom>
          <a:ln w="25400">
            <a:solidFill>
              <a:srgbClr val="425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68680" y="2788920"/>
            <a:ext cx="530352" cy="530352"/>
          </a:xfrm>
          <a:prstGeom prst="ellipse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898648"/>
            <a:ext cx="47548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1E34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807208"/>
            <a:ext cx="4114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8FAFC"/>
                </a:solidFill>
                <a:latin typeface="Aptos"/>
              </a:rPr>
              <a:t>Extrair FileStorage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825496"/>
            <a:ext cx="5029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EEF6"/>
                </a:solidFill>
                <a:latin typeface="Aptos"/>
              </a:rPr>
              <a:t>Separar arquivos e uploads.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33856" y="3337560"/>
            <a:ext cx="0" cy="475488"/>
          </a:xfrm>
          <a:prstGeom prst="line">
            <a:avLst/>
          </a:prstGeom>
          <a:ln w="25400">
            <a:solidFill>
              <a:srgbClr val="425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68680" y="3840479"/>
            <a:ext cx="530352" cy="530352"/>
          </a:xfrm>
          <a:prstGeom prst="ellipse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50207"/>
            <a:ext cx="47548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1E34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858767"/>
            <a:ext cx="4114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8FAFC"/>
                </a:solidFill>
                <a:latin typeface="Aptos"/>
              </a:rPr>
              <a:t>Aplicar injeção de dependências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877055"/>
            <a:ext cx="5029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EEF6"/>
                </a:solidFill>
                <a:latin typeface="Aptos"/>
              </a:rPr>
              <a:t>Reduzir dependências concretas.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33856" y="4389119"/>
            <a:ext cx="0" cy="475488"/>
          </a:xfrm>
          <a:prstGeom prst="line">
            <a:avLst/>
          </a:prstGeom>
          <a:ln w="25400">
            <a:solidFill>
              <a:srgbClr val="425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68680" y="4892040"/>
            <a:ext cx="530352" cy="530352"/>
          </a:xfrm>
          <a:prstGeom prst="ellipse">
            <a:avLst/>
          </a:prstGeom>
          <a:solidFill>
            <a:srgbClr val="FFA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5001768"/>
            <a:ext cx="47548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1E34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910327"/>
            <a:ext cx="4114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8FAFC"/>
                </a:solidFill>
                <a:latin typeface="Aptos"/>
              </a:rPr>
              <a:t>Limpar código herdado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4928616"/>
            <a:ext cx="5029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EEF6"/>
                </a:solidFill>
                <a:latin typeface="Aptos"/>
              </a:rPr>
              <a:t>Remover vestígios do CivicWatch.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8046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B7A6"/>
                </a:solidFill>
                <a:latin typeface="Aptos"/>
              </a:rPr>
              <a:t>10 • BENEFÍCIOS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Aptos"/>
              </a:rPr>
              <a:t>Impacto esperado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658368" cy="50292"/>
          </a:xfrm>
          <a:prstGeom prst="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6510528"/>
            <a:ext cx="2148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5B3C7"/>
                </a:solidFill>
                <a:latin typeface="Aptos"/>
              </a:rPr>
              <a:t>PONTO FÁCIL  •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383280" cy="246888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938528"/>
            <a:ext cx="54864" cy="2249424"/>
          </a:xfrm>
          <a:prstGeom prst="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993392"/>
            <a:ext cx="3017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Testabilidade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87168"/>
            <a:ext cx="3017520" cy="16824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EEF6"/>
                </a:solidFill>
                <a:latin typeface="Aptos"/>
              </a:rPr>
              <a:t>Dependências isoladas permitem usar mocks nos testes unitários.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246888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938528"/>
            <a:ext cx="54864" cy="2249424"/>
          </a:xfrm>
          <a:prstGeom prst="rect">
            <a:avLst/>
          </a:prstGeom>
          <a:solidFill>
            <a:srgbClr val="62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993392"/>
            <a:ext cx="3017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Manutenibilidade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87168"/>
            <a:ext cx="3017520" cy="16824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EEF6"/>
                </a:solidFill>
                <a:latin typeface="Aptos"/>
              </a:rPr>
              <a:t>Mudanças na infraestrutura afetam menos as regras de negócio.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383280" cy="246888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938528"/>
            <a:ext cx="54864" cy="2249424"/>
          </a:xfrm>
          <a:prstGeom prst="rect">
            <a:avLst/>
          </a:prstGeom>
          <a:solidFill>
            <a:srgbClr val="64C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993392"/>
            <a:ext cx="3017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Evolução do sistema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487168"/>
            <a:ext cx="3017520" cy="16824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EEF6"/>
                </a:solidFill>
                <a:latin typeface="Aptos"/>
              </a:rPr>
              <a:t>Novos módulos podem ser incorporados com menor acoplamento.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10424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Aptos"/>
              </a:rPr>
              <a:t>Resultado esperado: uma base mais confiável, flexível e simples de evoluir.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658368"/>
            <a:ext cx="1280160" cy="347472"/>
          </a:xfrm>
          <a:prstGeom prst="round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694944"/>
            <a:ext cx="1188719" cy="2468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1E34"/>
                </a:solidFill>
                <a:latin typeface="Aptos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7680960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8FAFC"/>
                </a:solidFill>
                <a:latin typeface="Aptos"/>
              </a:rPr>
              <a:t>Evoluir a arquitetura,
sem recomeçar do zero.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5943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62D3D8"/>
                </a:solidFill>
                <a:latin typeface="Aptos"/>
              </a:rPr>
              <a:t>A análise aponta três prioridades: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657600"/>
            <a:ext cx="3246120" cy="132588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3767328"/>
            <a:ext cx="54864" cy="1106424"/>
          </a:xfrm>
          <a:prstGeom prst="rect">
            <a:avLst/>
          </a:prstGeom>
          <a:solidFill>
            <a:srgbClr val="19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3822191"/>
            <a:ext cx="2880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Separar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4315968"/>
            <a:ext cx="2880360" cy="5394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7EEF6"/>
                </a:solidFill>
                <a:latin typeface="Aptos"/>
              </a:rPr>
              <a:t>Responsabilidades por componente.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657600"/>
            <a:ext cx="3246120" cy="132588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3767328"/>
            <a:ext cx="54864" cy="1106424"/>
          </a:xfrm>
          <a:prstGeom prst="rect">
            <a:avLst/>
          </a:prstGeom>
          <a:solidFill>
            <a:srgbClr val="62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3822191"/>
            <a:ext cx="2880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Desacoplar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4315968"/>
            <a:ext cx="2880360" cy="5394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7EEF6"/>
                </a:solidFill>
                <a:latin typeface="Aptos"/>
              </a:rPr>
              <a:t>Regras de negócio da infraestrutura.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657600"/>
            <a:ext cx="3246120" cy="1325880"/>
          </a:xfrm>
          <a:prstGeom prst="roundRect">
            <a:avLst/>
          </a:prstGeom>
          <a:solidFill>
            <a:srgbClr val="1D2B46"/>
          </a:solidFill>
          <a:ln>
            <a:solidFill>
              <a:srgbClr val="364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09560" y="3767328"/>
            <a:ext cx="54864" cy="1106424"/>
          </a:xfrm>
          <a:prstGeom prst="rect">
            <a:avLst/>
          </a:prstGeom>
          <a:solidFill>
            <a:srgbClr val="FFA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10728" y="3822191"/>
            <a:ext cx="2880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Simplificar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8" y="4315968"/>
            <a:ext cx="2880360" cy="5394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7EEF6"/>
                </a:solidFill>
                <a:latin typeface="Aptos"/>
              </a:rPr>
              <a:t>Remover código fora do domínio.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06440"/>
            <a:ext cx="6400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8FAFC"/>
                </a:solidFill>
                <a:latin typeface="Aptos"/>
              </a:rPr>
              <a:t>Obrigado! • Perguntas e discussão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510528"/>
            <a:ext cx="21488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5B3C7"/>
                </a:solidFill>
                <a:latin typeface="Aptos"/>
              </a:rPr>
              <a:t>PONTO FÁCIL  •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809</Words>
  <Application>Microsoft Office PowerPoint</Application>
  <PresentationFormat>Widescreen</PresentationFormat>
  <Paragraphs>139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Arquitetural e SOLID — Ponto Fácil</dc:title>
  <dc:subject>Apresentação resumida com diagnóstico e proposta de refatoração</dc:subject>
  <dc:creator>OpenAI</dc:creator>
  <cp:keywords>Ponto Fácil, SOLID, C4, arquitetura de software, refatoração</cp:keywords>
  <dc:description>generated using python-pptx</dc:description>
  <cp:lastModifiedBy>RENAN BATISTA DOS SANTOS</cp:lastModifiedBy>
  <cp:revision>2</cp:revision>
  <dcterms:created xsi:type="dcterms:W3CDTF">2013-01-27T09:14:16Z</dcterms:created>
  <dcterms:modified xsi:type="dcterms:W3CDTF">2026-10-27T23:54:11Z</dcterms:modified>
  <cp:category/>
</cp:coreProperties>
</file>